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1" roundtripDataSignature="AMtx7mjSHWz5YhogR/8ovb8NwYdPhFTz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D51C63B-3306-4A35-BB3C-0835EDCC88DC}">
  <a:tblStyle styleId="{1D51C63B-3306-4A35-BB3C-0835EDCC88D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8B3905E-D2D9-4C21-BEA5-8B30DF52509C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A6F73EDF-346F-4BEB-81FC-432F4C7437A9}" styleName="Table_2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0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2" name="Google Shape;12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8" name="Google Shape;12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a479e871a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4" name="Google Shape;134;g3fa479e871a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a479e871a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fa479e871a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6" name="Google Shape;14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4" name="Google Shape;15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8c804c57f_1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g3f8c804c57f_1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6" name="Google Shape;17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2" name="Google Shape;18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8" name="Google Shape;18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5" name="Google Shape;19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40410"/>
            <a:ext cx="10813067" cy="78383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dirty="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998185"/>
            <a:ext cx="10813067" cy="54150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69E8996-63F9-282F-EB89-823A9E405F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2974" y="1606318"/>
            <a:ext cx="11268845" cy="479145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FC4771-5A22-2E68-AB04-0949D0A15B66}"/>
              </a:ext>
            </a:extLst>
          </p:cNvPr>
          <p:cNvCxnSpPr>
            <a:cxnSpLocks/>
          </p:cNvCxnSpPr>
          <p:nvPr/>
        </p:nvCxnSpPr>
        <p:spPr>
          <a:xfrm flipH="1">
            <a:off x="0" y="159971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AA95C5A-6D75-9E1D-C459-7F2022E84F55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0ED5AC1-9F96-A868-7F45-523BF1A45E7C}"/>
              </a:ext>
            </a:extLst>
          </p:cNvPr>
          <p:cNvCxnSpPr>
            <a:cxnSpLocks/>
          </p:cNvCxnSpPr>
          <p:nvPr/>
        </p:nvCxnSpPr>
        <p:spPr>
          <a:xfrm>
            <a:off x="117348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0E1F764-5B01-7711-9CF1-7EA13A629701}"/>
              </a:ext>
            </a:extLst>
          </p:cNvPr>
          <p:cNvCxnSpPr>
            <a:cxnSpLocks/>
          </p:cNvCxnSpPr>
          <p:nvPr/>
        </p:nvCxnSpPr>
        <p:spPr>
          <a:xfrm flipH="1">
            <a:off x="0" y="6396171"/>
            <a:ext cx="12192000" cy="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73092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60221"/>
            <a:ext cx="10515600" cy="133046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004291"/>
            <a:ext cx="10515600" cy="41726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0" y="6445997"/>
            <a:ext cx="3949302" cy="365125"/>
          </a:xfrm>
        </p:spPr>
        <p:txBody>
          <a:bodyPr/>
          <a:lstStyle/>
          <a:p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76D044F-5574-D6D7-2A47-5069E411C22F}"/>
              </a:ext>
            </a:extLst>
          </p:cNvPr>
          <p:cNvCxnSpPr>
            <a:cxnSpLocks/>
          </p:cNvCxnSpPr>
          <p:nvPr/>
        </p:nvCxnSpPr>
        <p:spPr>
          <a:xfrm flipH="1">
            <a:off x="0" y="1825625"/>
            <a:ext cx="12210293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332028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2445" y="1480212"/>
            <a:ext cx="3849131" cy="2871351"/>
          </a:xfrm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2446" y="5410440"/>
            <a:ext cx="3849128" cy="106820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69E8996-63F9-282F-EB89-823A9E405F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204414" cy="6859634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29501" y="6445997"/>
            <a:ext cx="295546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26650" y="6445997"/>
            <a:ext cx="135305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8BE003B-9AA9-5AAB-16A3-CC8CD5997AAA}"/>
              </a:ext>
            </a:extLst>
          </p:cNvPr>
          <p:cNvCxnSpPr>
            <a:cxnSpLocks/>
          </p:cNvCxnSpPr>
          <p:nvPr/>
        </p:nvCxnSpPr>
        <p:spPr>
          <a:xfrm flipH="1">
            <a:off x="7206802" y="5031087"/>
            <a:ext cx="4985198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0CBC2A1-BC50-27CD-C764-435FA7A59ABD}"/>
              </a:ext>
            </a:extLst>
          </p:cNvPr>
          <p:cNvCxnSpPr>
            <a:cxnSpLocks/>
          </p:cNvCxnSpPr>
          <p:nvPr/>
        </p:nvCxnSpPr>
        <p:spPr>
          <a:xfrm>
            <a:off x="7206802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60628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6222" y="1246912"/>
            <a:ext cx="8919556" cy="3050766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1378" y="5345199"/>
            <a:ext cx="7289245" cy="118403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7C4A186-7A3C-2849-F4A7-5B5565EB29E6}"/>
              </a:ext>
            </a:extLst>
          </p:cNvPr>
          <p:cNvCxnSpPr>
            <a:cxnSpLocks/>
          </p:cNvCxnSpPr>
          <p:nvPr/>
        </p:nvCxnSpPr>
        <p:spPr>
          <a:xfrm flipH="1">
            <a:off x="0" y="5016433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0C7E87E-EC44-47F9-6172-5EEA03DE5D87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07301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2D6AD5-6168-B411-89A9-90C82303B25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EC6DA0-2CB8-AFC5-DB06-AB9235983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38087"/>
            <a:ext cx="8932653" cy="3312544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 cap="all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E16A9F-28B9-2207-66D3-D952EB7EC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-789870"/>
            <a:ext cx="10515600" cy="638352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3F77F-C41D-1011-B9F4-A5DE814F4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751081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CD507-925C-84B3-8F49-9F3B91209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3B4AE-32E8-CAFF-4A3C-6CBE4FFFA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BFA0DE8-9E4B-D747-CB64-14B8DEDC02EA}"/>
              </a:ext>
            </a:extLst>
          </p:cNvPr>
          <p:cNvCxnSpPr>
            <a:cxnSpLocks/>
          </p:cNvCxnSpPr>
          <p:nvPr/>
        </p:nvCxnSpPr>
        <p:spPr>
          <a:xfrm flipH="1">
            <a:off x="0" y="1367580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1EB75EB-F27E-271A-C843-4096E1F19057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03754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02D18C4-A1A8-6CA4-B4A2-0E9791DC7F7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63362"/>
            <a:ext cx="11122507" cy="1162632"/>
          </a:xfrm>
        </p:spPr>
        <p:txBody>
          <a:bodyPr anchor="ctr">
            <a:normAutofit/>
          </a:bodyPr>
          <a:lstStyle>
            <a:lvl1pPr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79085" y="2249592"/>
            <a:ext cx="6100623" cy="3787062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>
                <a:solidFill>
                  <a:schemeClr val="tx2"/>
                </a:solidFill>
              </a:defRPr>
            </a:lvl1pPr>
            <a:lvl2pPr marL="571500" indent="-342900">
              <a:buFont typeface="+mj-lt"/>
              <a:buAutoNum type="arabicPeriod"/>
              <a:defRPr lang="en-US" sz="1800" dirty="0">
                <a:solidFill>
                  <a:schemeClr val="tx2"/>
                </a:solidFill>
              </a:defRPr>
            </a:lvl2pPr>
            <a:lvl3pPr marL="800100" indent="-342900">
              <a:buFont typeface="+mj-lt"/>
              <a:buAutoNum type="arabicPeriod"/>
              <a:defRPr lang="en-US" sz="1600" dirty="0">
                <a:solidFill>
                  <a:schemeClr val="tx2"/>
                </a:solidFill>
              </a:defRPr>
            </a:lvl3pPr>
            <a:lvl4pPr marL="10287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4pPr>
            <a:lvl5pPr marL="12573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6406B2-3637-5849-867E-A0ADC9D9DDA5}"/>
              </a:ext>
            </a:extLst>
          </p:cNvPr>
          <p:cNvCxnSpPr>
            <a:cxnSpLocks/>
          </p:cNvCxnSpPr>
          <p:nvPr/>
        </p:nvCxnSpPr>
        <p:spPr>
          <a:xfrm flipH="1">
            <a:off x="0" y="1822345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E47964-42E3-09B6-4B3F-96D1060D072B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49180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0D0A563-F018-FFF1-B911-D69E42CEEAA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63362"/>
            <a:ext cx="11130279" cy="1162632"/>
          </a:xfrm>
        </p:spPr>
        <p:txBody>
          <a:bodyPr anchor="ctr">
            <a:normAutofit/>
          </a:bodyPr>
          <a:lstStyle>
            <a:lvl1pPr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5DA2B1BE-7DDF-C8B4-6A46-21B5A0257D0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8364" y="1830708"/>
            <a:ext cx="5321063" cy="456392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46552" y="2191025"/>
            <a:ext cx="5733156" cy="3894807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>
                <a:solidFill>
                  <a:schemeClr val="tx2"/>
                </a:solidFill>
              </a:defRPr>
            </a:lvl1pPr>
            <a:lvl2pPr marL="571500" indent="-342900">
              <a:buFont typeface="+mj-lt"/>
              <a:buAutoNum type="arabicPeriod"/>
              <a:defRPr lang="en-US" sz="1800" dirty="0">
                <a:solidFill>
                  <a:schemeClr val="tx2"/>
                </a:solidFill>
              </a:defRPr>
            </a:lvl2pPr>
            <a:lvl3pPr marL="800100" indent="-342900">
              <a:buFont typeface="+mj-lt"/>
              <a:buAutoNum type="arabicPeriod"/>
              <a:defRPr lang="en-US" sz="1600" dirty="0">
                <a:solidFill>
                  <a:schemeClr val="tx2"/>
                </a:solidFill>
              </a:defRPr>
            </a:lvl3pPr>
            <a:lvl4pPr marL="10287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4pPr>
            <a:lvl5pPr marL="12573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6406B2-3637-5849-867E-A0ADC9D9DDA5}"/>
              </a:ext>
            </a:extLst>
          </p:cNvPr>
          <p:cNvCxnSpPr>
            <a:cxnSpLocks/>
          </p:cNvCxnSpPr>
          <p:nvPr/>
        </p:nvCxnSpPr>
        <p:spPr>
          <a:xfrm flipH="1">
            <a:off x="0" y="1822345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E47964-42E3-09B6-4B3F-96D1060D072B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5DD64E6-257D-65B2-D2A7-6A1002E1E580}"/>
              </a:ext>
            </a:extLst>
          </p:cNvPr>
          <p:cNvCxnSpPr>
            <a:cxnSpLocks/>
          </p:cNvCxnSpPr>
          <p:nvPr/>
        </p:nvCxnSpPr>
        <p:spPr>
          <a:xfrm>
            <a:off x="5321065" y="1822345"/>
            <a:ext cx="0" cy="5035655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27817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1299"/>
            <a:ext cx="3689927" cy="1486906"/>
          </a:xfrm>
        </p:spPr>
        <p:txBody>
          <a:bodyPr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4515" y="2780147"/>
            <a:ext cx="6567049" cy="335987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F5C1EC-3A2D-2E51-65A6-6155B3776C4A}"/>
              </a:ext>
            </a:extLst>
          </p:cNvPr>
          <p:cNvCxnSpPr>
            <a:cxnSpLocks/>
          </p:cNvCxnSpPr>
          <p:nvPr/>
        </p:nvCxnSpPr>
        <p:spPr>
          <a:xfrm flipH="1">
            <a:off x="0" y="239797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97FEE4-9B7E-CE58-4AA3-EC6E3E1861F3}"/>
              </a:ext>
            </a:extLst>
          </p:cNvPr>
          <p:cNvCxnSpPr>
            <a:cxnSpLocks/>
          </p:cNvCxnSpPr>
          <p:nvPr/>
        </p:nvCxnSpPr>
        <p:spPr>
          <a:xfrm>
            <a:off x="4469245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627303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360">
          <p15:clr>
            <a:srgbClr val="FBAE40"/>
          </p15:clr>
        </p15:guide>
        <p15:guide id="4" pos="2928">
          <p15:clr>
            <a:srgbClr val="FBAE40"/>
          </p15:clr>
        </p15:guide>
        <p15:guide id="5" pos="47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0473"/>
            <a:ext cx="3664107" cy="3864052"/>
          </a:xfrm>
        </p:spPr>
        <p:txBody>
          <a:bodyPr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0349" y="720473"/>
            <a:ext cx="6309360" cy="530352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6AC6891-86BE-FF41-E94E-AB97BFFB2322}"/>
              </a:ext>
            </a:extLst>
          </p:cNvPr>
          <p:cNvCxnSpPr>
            <a:cxnSpLocks/>
          </p:cNvCxnSpPr>
          <p:nvPr/>
        </p:nvCxnSpPr>
        <p:spPr>
          <a:xfrm>
            <a:off x="4643464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51E503-5C8D-3CDA-5CC2-A56B4F2A6193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857309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1995" y="559483"/>
            <a:ext cx="6825541" cy="1009652"/>
          </a:xfrm>
        </p:spPr>
        <p:txBody>
          <a:bodyPr anchor="b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421943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1994" y="2083837"/>
            <a:ext cx="6825545" cy="403250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811448" cy="365125"/>
          </a:xfrm>
        </p:spPr>
        <p:txBody>
          <a:bodyPr/>
          <a:lstStyle/>
          <a:p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423739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4425535" y="1810995"/>
            <a:ext cx="7750205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302554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2644" y="669386"/>
            <a:ext cx="7231413" cy="100584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8994" y="-5468"/>
            <a:ext cx="4011836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2644" y="1812385"/>
            <a:ext cx="7231407" cy="442385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408011" cy="365125"/>
          </a:xfrm>
        </p:spPr>
        <p:txBody>
          <a:bodyPr/>
          <a:lstStyle/>
          <a:p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009212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3927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0728"/>
            <a:ext cx="7281067" cy="100584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3728"/>
            <a:ext cx="7281061" cy="442385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5489" y="-6369"/>
            <a:ext cx="3996512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8188287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393603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8485"/>
            <a:ext cx="6369370" cy="100584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1484"/>
            <a:ext cx="6360897" cy="429218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77100" y="-8466"/>
            <a:ext cx="4914895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7270008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895595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8145"/>
            <a:ext cx="4000497" cy="167979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72880"/>
            <a:ext cx="4000497" cy="378949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53323" y="0"/>
            <a:ext cx="7338676" cy="6396281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4000500" cy="365125"/>
          </a:xfrm>
        </p:spPr>
        <p:txBody>
          <a:bodyPr/>
          <a:lstStyle/>
          <a:p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9854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849331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091483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9922" y="458144"/>
            <a:ext cx="3909536" cy="148587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268396" cy="6396281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39922" y="2463789"/>
            <a:ext cx="3909534" cy="356109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9854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A67EAFE-BA64-2156-9780-AA400F6F3026}"/>
              </a:ext>
            </a:extLst>
          </p:cNvPr>
          <p:cNvCxnSpPr>
            <a:cxnSpLocks/>
          </p:cNvCxnSpPr>
          <p:nvPr/>
        </p:nvCxnSpPr>
        <p:spPr>
          <a:xfrm>
            <a:off x="7271347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F2342-86AA-3EA4-EB3B-2DB8D68315E6}"/>
              </a:ext>
            </a:extLst>
          </p:cNvPr>
          <p:cNvCxnSpPr>
            <a:cxnSpLocks/>
          </p:cNvCxnSpPr>
          <p:nvPr/>
        </p:nvCxnSpPr>
        <p:spPr>
          <a:xfrm flipH="1">
            <a:off x="7227420" y="2212509"/>
            <a:ext cx="493532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876379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959530"/>
            <a:ext cx="3512409" cy="2199864"/>
          </a:xfrm>
        </p:spPr>
        <p:txBody>
          <a:bodyPr anchor="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B441162-7125-E1E0-1B82-FCC1AB84227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857" y="-1"/>
            <a:ext cx="12192000" cy="364897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3613" y="3959529"/>
            <a:ext cx="7011183" cy="236954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1" y="6445997"/>
            <a:ext cx="3543299" cy="365125"/>
          </a:xfrm>
        </p:spPr>
        <p:txBody>
          <a:bodyPr/>
          <a:lstStyle/>
          <a:p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FF81FBD-8D67-B5E4-E22E-74E98EF89F80}"/>
              </a:ext>
            </a:extLst>
          </p:cNvPr>
          <p:cNvCxnSpPr>
            <a:cxnSpLocks/>
          </p:cNvCxnSpPr>
          <p:nvPr/>
        </p:nvCxnSpPr>
        <p:spPr>
          <a:xfrm>
            <a:off x="4290210" y="3648976"/>
            <a:ext cx="0" cy="3209024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92870-1B48-2935-21E8-3BC6F474C661}"/>
              </a:ext>
            </a:extLst>
          </p:cNvPr>
          <p:cNvCxnSpPr>
            <a:cxnSpLocks/>
          </p:cNvCxnSpPr>
          <p:nvPr/>
        </p:nvCxnSpPr>
        <p:spPr>
          <a:xfrm flipH="1">
            <a:off x="-857" y="3654706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8563435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77072"/>
            <a:ext cx="4958078" cy="1225485"/>
          </a:xfrm>
        </p:spPr>
        <p:txBody>
          <a:bodyPr anchor="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842182"/>
            <a:ext cx="5758172" cy="454645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142" y="377072"/>
            <a:ext cx="5558655" cy="57974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7362BC-3CD1-D6F5-CB9B-B2AAD7EAD176}"/>
              </a:ext>
            </a:extLst>
          </p:cNvPr>
          <p:cNvCxnSpPr>
            <a:cxnSpLocks/>
          </p:cNvCxnSpPr>
          <p:nvPr/>
        </p:nvCxnSpPr>
        <p:spPr>
          <a:xfrm>
            <a:off x="5758174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0" y="1842182"/>
            <a:ext cx="5758174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1990281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407360"/>
            <a:ext cx="3543299" cy="1732820"/>
          </a:xfrm>
        </p:spPr>
        <p:txBody>
          <a:bodyPr anchor="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466598"/>
            <a:ext cx="4460008" cy="3601433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2635" y="788704"/>
            <a:ext cx="6730614" cy="538585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543300" cy="365125"/>
          </a:xfrm>
        </p:spPr>
        <p:txBody>
          <a:bodyPr/>
          <a:lstStyle/>
          <a:p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0" y="4068031"/>
            <a:ext cx="4460008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7362BC-3CD1-D6F5-CB9B-B2AAD7EAD176}"/>
              </a:ext>
            </a:extLst>
          </p:cNvPr>
          <p:cNvCxnSpPr>
            <a:cxnSpLocks/>
          </p:cNvCxnSpPr>
          <p:nvPr/>
        </p:nvCxnSpPr>
        <p:spPr>
          <a:xfrm>
            <a:off x="4460008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0D58D1-F636-9620-582E-41FBB707092B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447389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91F6A87-CC7B-D4BD-1F6A-C3948971C39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8720" y="5264780"/>
            <a:ext cx="9811512" cy="1097280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110000"/>
              </a:lnSpc>
              <a:defRPr lang="en-US" sz="2800" cap="all" spc="100" baseline="0" dirty="0">
                <a:solidFill>
                  <a:schemeClr val="tx2">
                    <a:lumMod val="9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676656"/>
            <a:ext cx="11201400" cy="420624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7800" dirty="0">
                <a:solidFill>
                  <a:schemeClr val="tx2">
                    <a:lumMod val="9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5ADE133-B5D6-A1C0-6BC9-C723D008EC0E}"/>
              </a:ext>
            </a:extLst>
          </p:cNvPr>
          <p:cNvCxnSpPr>
            <a:cxnSpLocks/>
          </p:cNvCxnSpPr>
          <p:nvPr/>
        </p:nvCxnSpPr>
        <p:spPr>
          <a:xfrm flipH="1">
            <a:off x="0" y="501866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17285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FB4D75-C478-D736-9A5A-B64DEA2410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93103" y="1493520"/>
            <a:ext cx="8805794" cy="39116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5400" b="0">
                <a:solidFill>
                  <a:schemeClr val="tx2"/>
                </a:solidFill>
                <a:latin typeface="+mj-lt"/>
              </a:defRPr>
            </a:lvl1pPr>
            <a:lvl2pPr marL="228600" indent="0" algn="ctr">
              <a:lnSpc>
                <a:spcPct val="110000"/>
              </a:lnSpc>
              <a:buNone/>
              <a:defRPr sz="4800" b="0">
                <a:solidFill>
                  <a:schemeClr val="tx2"/>
                </a:solidFill>
                <a:latin typeface="+mj-lt"/>
              </a:defRPr>
            </a:lvl2pPr>
            <a:lvl3pPr marL="457200" indent="0" algn="ctr">
              <a:lnSpc>
                <a:spcPct val="110000"/>
              </a:lnSpc>
              <a:buNone/>
              <a:defRPr sz="4400" b="0">
                <a:solidFill>
                  <a:schemeClr val="tx2"/>
                </a:solidFill>
                <a:latin typeface="+mj-lt"/>
              </a:defRPr>
            </a:lvl3pPr>
            <a:lvl4pPr marL="685800" indent="0" algn="ctr">
              <a:lnSpc>
                <a:spcPct val="110000"/>
              </a:lnSpc>
              <a:buNone/>
              <a:defRPr sz="4000" b="0">
                <a:solidFill>
                  <a:schemeClr val="tx2"/>
                </a:solidFill>
                <a:latin typeface="+mj-lt"/>
              </a:defRPr>
            </a:lvl4pPr>
            <a:lvl5pPr marL="914400" indent="0" algn="ctr">
              <a:lnSpc>
                <a:spcPct val="110000"/>
              </a:lnSpc>
              <a:buNone/>
              <a:defRPr sz="36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547212-589F-3A5C-2FF7-4E576B86E3A3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0E2472-A2D0-B3C4-1592-E709B2EC9AD6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F95E0B8-C6C3-8095-D53F-FB618E39D7CE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AD2DF78-237E-1E21-906C-273460F55F55}"/>
              </a:ext>
            </a:extLst>
          </p:cNvPr>
          <p:cNvCxnSpPr>
            <a:cxnSpLocks/>
          </p:cNvCxnSpPr>
          <p:nvPr/>
        </p:nvCxnSpPr>
        <p:spPr>
          <a:xfrm>
            <a:off x="117348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6579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47DCC75-46A1-9953-9459-89672E9805A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62100" y="5549186"/>
            <a:ext cx="9199563" cy="65318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 cap="all" spc="100" baseline="0">
                <a:solidFill>
                  <a:schemeClr val="accent4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36EB602-83B2-B4EE-7805-FB94B774766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562100" y="823913"/>
            <a:ext cx="9199563" cy="3614737"/>
          </a:xfrm>
        </p:spPr>
        <p:txBody>
          <a:bodyPr anchor="ctr">
            <a:normAutofit/>
          </a:bodyPr>
          <a:lstStyle>
            <a:lvl1pPr marL="182880" indent="-182880">
              <a:buNone/>
              <a:defRPr sz="4000">
                <a:solidFill>
                  <a:schemeClr val="accent4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1338F2-C5CE-45A7-7748-138B348BA1E7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4CFB94-8AB3-65DB-0B12-EC4F7DAAEBF7}"/>
              </a:ext>
            </a:extLst>
          </p:cNvPr>
          <p:cNvCxnSpPr>
            <a:cxnSpLocks/>
          </p:cNvCxnSpPr>
          <p:nvPr/>
        </p:nvCxnSpPr>
        <p:spPr>
          <a:xfrm flipH="1">
            <a:off x="0" y="5043721"/>
            <a:ext cx="12192000" cy="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17943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27BF6-CDFA-AAF4-F7FD-F4F8D06FF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5309"/>
            <a:ext cx="11277600" cy="914400"/>
          </a:xfrm>
        </p:spPr>
        <p:txBody>
          <a:bodyPr anchor="ctr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AB1904-05A3-AF54-90B7-8B4E5E9BFC6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5613" y="1677988"/>
            <a:ext cx="5181600" cy="44989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D15555F-2C1E-04D7-CE37-D06ABFB568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53200" y="1677988"/>
            <a:ext cx="5180013" cy="44989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08197-F703-726D-4372-C7520052D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5FAA39-5E1E-3A94-5A04-C36BA19E3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E80595-19B6-01B9-FCF5-F94B0C1BB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2C5098A-8A29-951C-ABCF-B4C329C3A94F}"/>
              </a:ext>
            </a:extLst>
          </p:cNvPr>
          <p:cNvCxnSpPr>
            <a:cxnSpLocks/>
          </p:cNvCxnSpPr>
          <p:nvPr/>
        </p:nvCxnSpPr>
        <p:spPr>
          <a:xfrm>
            <a:off x="6096000" y="1362719"/>
            <a:ext cx="0" cy="5490348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4A1D01-2B46-73F0-8DC7-926AA95F7DFC}"/>
              </a:ext>
            </a:extLst>
          </p:cNvPr>
          <p:cNvCxnSpPr>
            <a:cxnSpLocks/>
          </p:cNvCxnSpPr>
          <p:nvPr/>
        </p:nvCxnSpPr>
        <p:spPr>
          <a:xfrm flipH="1">
            <a:off x="0" y="1362719"/>
            <a:ext cx="12200040" cy="0"/>
          </a:xfrm>
          <a:prstGeom prst="line">
            <a:avLst/>
          </a:prstGeom>
          <a:ln w="9525">
            <a:solidFill>
              <a:srgbClr val="616867">
                <a:alpha val="4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4100388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F27A1-B3E2-4312-9475-76586DB13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6838"/>
            <a:ext cx="11274552" cy="914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D6984-5D8F-6F35-3DC2-352D46E75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475623"/>
            <a:ext cx="5184648" cy="676690"/>
          </a:xfrm>
        </p:spPr>
        <p:txBody>
          <a:bodyPr anchor="ctr">
            <a:normAutofit/>
          </a:bodyPr>
          <a:lstStyle>
            <a:lvl1pPr marL="0" indent="0">
              <a:buNone/>
              <a:defRPr sz="1800" b="0" cap="all" spc="16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CD5136-48A0-D788-8CE2-627309A00EC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2522538"/>
            <a:ext cx="5178425" cy="380682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07CEA6-7FDB-2A72-485B-D38A79C182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56248" y="1475622"/>
            <a:ext cx="5184648" cy="676690"/>
          </a:xfrm>
        </p:spPr>
        <p:txBody>
          <a:bodyPr anchor="ctr">
            <a:normAutofit/>
          </a:bodyPr>
          <a:lstStyle>
            <a:lvl1pPr marL="0" indent="0">
              <a:buNone/>
              <a:defRPr sz="1800" b="0" cap="all" spc="16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C4D723F-4492-3B3B-CE74-0959714EEB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56375" y="2522538"/>
            <a:ext cx="5175249" cy="380682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FA108E0-63AE-4B5C-404F-AD0FEC4AB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2E2EB77-3CF8-CDC9-D0D4-1AC07FC53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6918C09E-FCA3-F1F6-7408-40D98FCEA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54F547E-1AC1-2FFD-3E17-DC3F25B07823}"/>
              </a:ext>
            </a:extLst>
          </p:cNvPr>
          <p:cNvCxnSpPr>
            <a:cxnSpLocks/>
          </p:cNvCxnSpPr>
          <p:nvPr/>
        </p:nvCxnSpPr>
        <p:spPr>
          <a:xfrm>
            <a:off x="6096000" y="1362719"/>
            <a:ext cx="0" cy="5490348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695E25D-D4B1-2002-F8AB-8B987C1683D9}"/>
              </a:ext>
            </a:extLst>
          </p:cNvPr>
          <p:cNvCxnSpPr>
            <a:cxnSpLocks/>
          </p:cNvCxnSpPr>
          <p:nvPr/>
        </p:nvCxnSpPr>
        <p:spPr>
          <a:xfrm flipH="1">
            <a:off x="0" y="226812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35EA16-C700-BA75-F075-2E4BC3EAFBE2}"/>
              </a:ext>
            </a:extLst>
          </p:cNvPr>
          <p:cNvCxnSpPr>
            <a:cxnSpLocks/>
          </p:cNvCxnSpPr>
          <p:nvPr/>
        </p:nvCxnSpPr>
        <p:spPr>
          <a:xfrm flipH="1">
            <a:off x="0" y="1362719"/>
            <a:ext cx="12200040" cy="0"/>
          </a:xfrm>
          <a:prstGeom prst="line">
            <a:avLst/>
          </a:prstGeom>
          <a:ln w="9525">
            <a:solidFill>
              <a:srgbClr val="616867">
                <a:alpha val="4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1314290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552C1-DD73-A90F-46E0-33A4D5580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8F8C10-87B8-01D2-2FEE-DAC41B9CF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25E57E-7F73-3825-2158-80859BAD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A634BF-792D-AC8C-B0E0-492263401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8529039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51370D-0A93-44DD-E049-EF3265B73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FF00A2-5853-30A7-62F5-7C7CB5A22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E97DA-A7DF-E3FF-8937-F6A36D17F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76750692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319627-2791-E32D-91B0-857B27F822F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34473"/>
            <a:ext cx="11122508" cy="1993399"/>
          </a:xfrm>
        </p:spPr>
        <p:txBody>
          <a:bodyPr anchor="b">
            <a:normAutofit/>
          </a:bodyPr>
          <a:lstStyle>
            <a:lvl1pPr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199" y="3528206"/>
            <a:ext cx="11122509" cy="275425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2128EF9-7F8A-2F1B-41F7-2CA02A35CCA7}"/>
              </a:ext>
            </a:extLst>
          </p:cNvPr>
          <p:cNvCxnSpPr>
            <a:cxnSpLocks/>
          </p:cNvCxnSpPr>
          <p:nvPr/>
        </p:nvCxnSpPr>
        <p:spPr>
          <a:xfrm flipH="1">
            <a:off x="0" y="3191402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3895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7CD7571-736E-B4CB-34E0-C8B31B5A98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34473"/>
            <a:ext cx="6768193" cy="1993399"/>
          </a:xfrm>
        </p:spPr>
        <p:txBody>
          <a:bodyPr anchor="b">
            <a:normAutofit/>
          </a:bodyPr>
          <a:lstStyle>
            <a:lvl1pPr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3528206"/>
            <a:ext cx="6768193" cy="1794899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2128EF9-7F8A-2F1B-41F7-2CA02A35CCA7}"/>
              </a:ext>
            </a:extLst>
          </p:cNvPr>
          <p:cNvCxnSpPr>
            <a:cxnSpLocks/>
          </p:cNvCxnSpPr>
          <p:nvPr/>
        </p:nvCxnSpPr>
        <p:spPr>
          <a:xfrm flipH="1">
            <a:off x="0" y="3191402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43521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57148D-D60C-3359-4AC2-15A43E221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1"/>
            <a:ext cx="10515600" cy="11572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8731C-FCAE-A05A-5A11-57005B86A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52E70-B2DF-717F-6373-70A688FAD8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445997"/>
            <a:ext cx="39493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215E5-6146-14C5-665E-EF04630DCB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37594" y="6445997"/>
            <a:ext cx="18421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8FA3A-8706-3F4B-41CC-B024431F62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4800" y="6445997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95938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08">
          <p15:clr>
            <a:srgbClr val="F26B43"/>
          </p15:clr>
        </p15:guide>
        <p15:guide id="3" pos="4872">
          <p15:clr>
            <a:srgbClr val="F26B43"/>
          </p15:clr>
        </p15:guide>
        <p15:guide id="4" pos="5160">
          <p15:clr>
            <a:srgbClr val="F26B43"/>
          </p15:clr>
        </p15:guide>
        <p15:guide id="5" pos="2520">
          <p15:clr>
            <a:srgbClr val="F26B43"/>
          </p15:clr>
        </p15:guide>
        <p15:guide id="6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407886" y="1398133"/>
            <a:ext cx="9144000" cy="1620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Presentación Portafolio Titulo</a:t>
            </a:r>
            <a:br>
              <a:rPr lang="es-CL"/>
            </a:br>
            <a:r>
              <a:rPr lang="es-CL" sz="3200"/>
              <a:t>“Hydra”</a:t>
            </a:r>
            <a:endParaRPr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3562999"/>
            <a:ext cx="9144000" cy="1620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 sz="3200"/>
              <a:t>Ingeniería Informática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Escuela de Informática y Telecomunicaciones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Sede Puente Alto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2026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sz="140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/>
        </p:nvSpPr>
        <p:spPr>
          <a:xfrm>
            <a:off x="555827" y="2315666"/>
            <a:ext cx="2993823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1" name="Google Shape;91;p2"/>
          <p:cNvGrpSpPr/>
          <p:nvPr/>
        </p:nvGrpSpPr>
        <p:grpSpPr>
          <a:xfrm>
            <a:off x="4082926" y="1382434"/>
            <a:ext cx="6781052" cy="3415887"/>
            <a:chOff x="0" y="0"/>
            <a:chExt cx="6781052" cy="3415887"/>
          </a:xfrm>
        </p:grpSpPr>
        <p:sp>
          <p:nvSpPr>
            <p:cNvPr id="92" name="Google Shape;92;p2"/>
            <p:cNvSpPr/>
            <p:nvPr/>
          </p:nvSpPr>
          <p:spPr>
            <a:xfrm>
              <a:off x="0" y="0"/>
              <a:ext cx="6780900" cy="1067400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5D7FC9"/>
                </a:gs>
                <a:gs pos="50000">
                  <a:srgbClr val="3A6EC9"/>
                </a:gs>
                <a:gs pos="100000">
                  <a:srgbClr val="2C5EB8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14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1462952" y="0"/>
              <a:ext cx="5318100" cy="106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000" tIns="80000" rIns="80000" bIns="80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100"/>
                <a:buFont typeface="Calibri"/>
                <a:buNone/>
              </a:pPr>
              <a:r>
                <a:rPr lang="es-CL" sz="2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Luis Jofre Aguirre</a:t>
              </a:r>
              <a:endParaRPr sz="21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71450" marR="0" lvl="1" indent="-171450" algn="l" rtl="0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Char char="•"/>
              </a:pPr>
              <a:r>
                <a:rPr lang="es-CL" sz="1600" b="0" i="0" u="none" strike="noStrike" cap="none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jefe de proyecto</a:t>
              </a:r>
              <a:endParaRPr sz="16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71450" marR="0" lvl="1" indent="-171450" algn="l" rtl="0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Char char="•"/>
              </a:pPr>
              <a:r>
                <a:rPr lang="es-CL" sz="16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Desarrollo de la aplicación móvil y módulos administrativos </a:t>
              </a:r>
              <a:endParaRPr sz="16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106749" y="106749"/>
              <a:ext cx="1356300" cy="854100"/>
            </a:xfrm>
            <a:prstGeom prst="roundRect">
              <a:avLst>
                <a:gd name="adj" fmla="val 10000"/>
              </a:avLst>
            </a:prstGeom>
            <a:solidFill>
              <a:srgbClr val="BCC5E4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14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0" y="1174243"/>
              <a:ext cx="6780900" cy="1067400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5D7FC9"/>
                </a:gs>
                <a:gs pos="50000">
                  <a:srgbClr val="3A6EC9"/>
                </a:gs>
                <a:gs pos="100000">
                  <a:srgbClr val="2C5EB8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14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1462952" y="1174243"/>
              <a:ext cx="5318100" cy="106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000" tIns="80000" rIns="80000" bIns="80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100"/>
                <a:buFont typeface="Calibri"/>
                <a:buNone/>
              </a:pPr>
              <a:r>
                <a:rPr lang="es-CL" sz="2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Francisco Carrasco</a:t>
              </a:r>
              <a:endParaRPr sz="2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71450" marR="0" lvl="1" indent="-171450" algn="l" rtl="0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QA</a:t>
              </a: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71450" marR="0" lvl="1" indent="-171450" algn="l" rtl="0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Desarrollo de app de escritorio</a:t>
              </a: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06749" y="1280992"/>
              <a:ext cx="1356300" cy="854100"/>
            </a:xfrm>
            <a:prstGeom prst="roundRect">
              <a:avLst>
                <a:gd name="adj" fmla="val 10000"/>
              </a:avLst>
            </a:prstGeom>
            <a:solidFill>
              <a:srgbClr val="BCC5E4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14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0" y="2348487"/>
              <a:ext cx="6780900" cy="1067400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5D7FC9"/>
                </a:gs>
                <a:gs pos="50000">
                  <a:srgbClr val="3A6EC9"/>
                </a:gs>
                <a:gs pos="100000">
                  <a:srgbClr val="2C5EB8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14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 txBox="1"/>
            <p:nvPr/>
          </p:nvSpPr>
          <p:spPr>
            <a:xfrm>
              <a:off x="1462952" y="2348487"/>
              <a:ext cx="5318100" cy="106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000" tIns="80000" rIns="80000" bIns="80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100"/>
                <a:buFont typeface="Calibri"/>
                <a:buNone/>
              </a:pPr>
              <a:r>
                <a:rPr lang="es-CL" sz="2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Benjamin Contreras</a:t>
              </a:r>
              <a:endParaRPr/>
            </a:p>
            <a:p>
              <a:pPr marL="171450" marR="0" lvl="1" indent="-171450" algn="l" rtl="0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DBA</a:t>
              </a:r>
              <a:endParaRPr/>
            </a:p>
            <a:p>
              <a:pPr marL="171450" marR="0" lvl="1" indent="-171450" algn="l" rtl="0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Creador de base de datos</a:t>
              </a: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06749" y="2455236"/>
              <a:ext cx="1356300" cy="854100"/>
            </a:xfrm>
            <a:prstGeom prst="roundRect">
              <a:avLst>
                <a:gd name="adj" fmla="val 10000"/>
              </a:avLst>
            </a:prstGeom>
            <a:solidFill>
              <a:srgbClr val="BCC5E4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14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title"/>
          </p:nvPr>
        </p:nvSpPr>
        <p:spPr>
          <a:xfrm>
            <a:off x="725659" y="1110713"/>
            <a:ext cx="10515600" cy="718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Descripción del Proyecto</a:t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714909" y="2169769"/>
            <a:ext cx="4427360" cy="4092601"/>
          </a:xfrm>
          <a:prstGeom prst="roundRect">
            <a:avLst>
              <a:gd name="adj" fmla="val 10901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CL" sz="28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Existe una falta de un sistema integrado para el seguimiento continuo de pacientes que han sufrido la pérdida de una mano y usan prótesis. La información de salud y ubicación está distribuida, lo que dificulta la comunicación rápida entre médicos, cuidadores y familiares ante emergencias o dolores fantasmas.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6912079" y="2177325"/>
            <a:ext cx="4641292" cy="4092601"/>
          </a:xfrm>
          <a:prstGeom prst="roundRect">
            <a:avLst>
              <a:gd name="adj" fmla="val 10901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CL" sz="28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ecosistema tecnológico integrado por una prótesis de mano conectada a una aplicación móvil, una web y una de escritorio. Esto permitirá centralizar la información clínica, gestionar procesos administrativos y proporcionar monitoreo en tiempo real.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264159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 sistema integral de monitoreo y gestión de pacientes con prótesis de mano que centralice información clínica y administrativa para facilitar la comunicación entre los actores involucrados.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614514" y="4732407"/>
            <a:ext cx="10962967" cy="1575221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s-C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 monitoreo en tiempo real y geolocalización del paciente.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s-C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perfiles de usuario con permisos específicos (médicos, cuidadores, familiares, etc.).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s-C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Digitalizar los procesos de emisión y aprobación de recetas médicas y solicitudes de prótesis.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 txBox="1"/>
          <p:nvPr/>
        </p:nvSpPr>
        <p:spPr>
          <a:xfrm>
            <a:off x="152400" y="1197198"/>
            <a:ext cx="11938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 txBox="1"/>
          <p:nvPr/>
        </p:nvSpPr>
        <p:spPr>
          <a:xfrm>
            <a:off x="152400" y="4009875"/>
            <a:ext cx="11938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 txBox="1">
            <a:spLocks noGrp="1"/>
          </p:cNvSpPr>
          <p:nvPr>
            <p:ph type="title"/>
          </p:nvPr>
        </p:nvSpPr>
        <p:spPr>
          <a:xfrm>
            <a:off x="810065" y="809447"/>
            <a:ext cx="10515600" cy="750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Alcances</a:t>
            </a:r>
            <a:endParaRPr/>
          </a:p>
        </p:txBody>
      </p:sp>
      <p:sp>
        <p:nvSpPr>
          <p:cNvPr id="125" name="Google Shape;125;p5"/>
          <p:cNvSpPr txBox="1"/>
          <p:nvPr/>
        </p:nvSpPr>
        <p:spPr>
          <a:xfrm>
            <a:off x="914374" y="1664801"/>
            <a:ext cx="10072800" cy="41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 hace el Sistema: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s-C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Autenticación de usuarios por roles.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s-C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Monitoreo de BPM (pulsaciones), batería de la prótesis y geolocalización.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s-C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Generación de alertas clínicas y activación de emergencias.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s-C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de citas, exámenes y perfiles clínicos.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Qué no hace: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s-C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sistema no fabrica la prótesis física ni diagnostica de forma autónoma sin un médico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 txBox="1">
            <a:spLocks noGrp="1"/>
          </p:cNvSpPr>
          <p:nvPr>
            <p:ph type="title"/>
          </p:nvPr>
        </p:nvSpPr>
        <p:spPr>
          <a:xfrm>
            <a:off x="841416" y="1054442"/>
            <a:ext cx="10515600" cy="752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Usuarios</a:t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839487" y="1923143"/>
            <a:ext cx="10365542" cy="4332514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lang="es-CL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Paciente:</a:t>
            </a:r>
            <a:r>
              <a:rPr lang="es-CL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Interactúa con la app móvil para monitoreo y alertas.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lang="es-CL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Médico:</a:t>
            </a:r>
            <a:r>
              <a:rPr lang="es-CL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Gestiona citas, exámenes, recetas y revisa la evolución.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lang="es-CL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Cuidador:</a:t>
            </a:r>
            <a:r>
              <a:rPr lang="es-CL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Supervisa el seguimiento cotidiano de los pacientes asignados.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lang="es-CL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Administrador:</a:t>
            </a:r>
            <a:r>
              <a:rPr lang="es-CL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Gestiona usuarios, empleados y el estado financiero.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lang="es-CL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Autorizador:</a:t>
            </a:r>
            <a:r>
              <a:rPr lang="es-CL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Aprueba la implementación de prótesis y recetas específicas.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lang="es-CL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Familiar:</a:t>
            </a:r>
            <a:r>
              <a:rPr lang="es-CL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Realiza seguimiento de la ubicación y estado del paciente.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a479e871a_2_0"/>
          <p:cNvSpPr txBox="1">
            <a:spLocks noGrp="1"/>
          </p:cNvSpPr>
          <p:nvPr>
            <p:ph type="title"/>
          </p:nvPr>
        </p:nvSpPr>
        <p:spPr>
          <a:xfrm>
            <a:off x="428016" y="2342242"/>
            <a:ext cx="10515600" cy="7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Lista de Requerimientos</a:t>
            </a:r>
            <a:endParaRPr/>
          </a:p>
        </p:txBody>
      </p:sp>
      <p:pic>
        <p:nvPicPr>
          <p:cNvPr id="137" name="Google Shape;137;g3fa479e871a_2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3225" y="775425"/>
            <a:ext cx="3526175" cy="58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a479e871a_2_7"/>
          <p:cNvSpPr txBox="1">
            <a:spLocks noGrp="1"/>
          </p:cNvSpPr>
          <p:nvPr>
            <p:ph type="title"/>
          </p:nvPr>
        </p:nvSpPr>
        <p:spPr>
          <a:xfrm>
            <a:off x="838191" y="775417"/>
            <a:ext cx="10515600" cy="7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Lista de Requerimientos</a:t>
            </a:r>
            <a:endParaRPr/>
          </a:p>
        </p:txBody>
      </p:sp>
      <p:pic>
        <p:nvPicPr>
          <p:cNvPr id="143" name="Google Shape;143;g3fa479e871a_2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5300" y="1877434"/>
            <a:ext cx="6638425" cy="477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 txBox="1">
            <a:spLocks noGrp="1"/>
          </p:cNvSpPr>
          <p:nvPr>
            <p:ph type="title"/>
          </p:nvPr>
        </p:nvSpPr>
        <p:spPr>
          <a:xfrm>
            <a:off x="79752" y="732536"/>
            <a:ext cx="10515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Mockups del paciente</a:t>
            </a:r>
            <a:endParaRPr/>
          </a:p>
        </p:txBody>
      </p:sp>
      <p:pic>
        <p:nvPicPr>
          <p:cNvPr id="149" name="Google Shape;149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41575" y="557550"/>
            <a:ext cx="3474425" cy="61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78950" y="801700"/>
            <a:ext cx="3155800" cy="5958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83725" y="1397675"/>
            <a:ext cx="2843325" cy="5362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"/>
          <p:cNvSpPr txBox="1">
            <a:spLocks noGrp="1"/>
          </p:cNvSpPr>
          <p:nvPr>
            <p:ph type="title"/>
          </p:nvPr>
        </p:nvSpPr>
        <p:spPr>
          <a:xfrm>
            <a:off x="127377" y="722661"/>
            <a:ext cx="10515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Mockups del familiar</a:t>
            </a:r>
            <a:endParaRPr/>
          </a:p>
        </p:txBody>
      </p:sp>
      <p:sp>
        <p:nvSpPr>
          <p:cNvPr id="157" name="Google Shape;157;p9"/>
          <p:cNvSpPr txBox="1"/>
          <p:nvPr/>
        </p:nvSpPr>
        <p:spPr>
          <a:xfrm>
            <a:off x="757367" y="1848356"/>
            <a:ext cx="9990462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35850" y="1373575"/>
            <a:ext cx="2278475" cy="476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07279" y="1243449"/>
            <a:ext cx="2938150" cy="515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96100" y="1212000"/>
            <a:ext cx="3022376" cy="531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8c804c57f_1_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SzPts val="1800"/>
              <a:buNone/>
            </a:pPr>
            <a:r>
              <a:rPr lang="es-CL" sz="3400" b="1" i="0">
                <a:solidFill>
                  <a:srgbClr val="2D343B"/>
                </a:solidFill>
                <a:latin typeface="Arial"/>
                <a:ea typeface="Arial"/>
                <a:cs typeface="Arial"/>
                <a:sym typeface="Arial"/>
              </a:rPr>
              <a:t>Mockups Web / Escritorio</a:t>
            </a:r>
            <a:endParaRPr/>
          </a:p>
        </p:txBody>
      </p:sp>
      <p:pic>
        <p:nvPicPr>
          <p:cNvPr id="166" name="Google Shape;166;g3f8c804c57f_1_11" descr="07_png_1112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46000" y="1800000"/>
            <a:ext cx="3900000" cy="20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g3f8c804c57f_1_11"/>
          <p:cNvSpPr txBox="1"/>
          <p:nvPr/>
        </p:nvSpPr>
        <p:spPr>
          <a:xfrm>
            <a:off x="2046000" y="3800000"/>
            <a:ext cx="3900000" cy="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 b="1" i="0" u="none" strike="noStrike" cap="none">
                <a:solidFill>
                  <a:srgbClr val="6C5CE7"/>
                </a:solidFill>
                <a:latin typeface="Arial"/>
                <a:ea typeface="Arial"/>
                <a:cs typeface="Arial"/>
                <a:sym typeface="Arial"/>
              </a:rPr>
              <a:t>Vista General Médico</a:t>
            </a:r>
            <a:endParaRPr/>
          </a:p>
        </p:txBody>
      </p:sp>
      <p:pic>
        <p:nvPicPr>
          <p:cNvPr id="168" name="Google Shape;168;g3f8c804c57f_1_11" descr="18_png_1609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46000" y="1800000"/>
            <a:ext cx="3900000" cy="20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g3f8c804c57f_1_11"/>
          <p:cNvSpPr txBox="1"/>
          <p:nvPr/>
        </p:nvSpPr>
        <p:spPr>
          <a:xfrm>
            <a:off x="6246000" y="3800000"/>
            <a:ext cx="3900000" cy="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 b="1" i="0" u="none" strike="noStrike" cap="none">
                <a:solidFill>
                  <a:srgbClr val="6C5CE7"/>
                </a:solidFill>
                <a:latin typeface="Arial"/>
                <a:ea typeface="Arial"/>
                <a:cs typeface="Arial"/>
                <a:sym typeface="Arial"/>
              </a:rPr>
              <a:t>Vista General Autorizador</a:t>
            </a:r>
            <a:endParaRPr/>
          </a:p>
        </p:txBody>
      </p:sp>
      <p:pic>
        <p:nvPicPr>
          <p:cNvPr id="170" name="Google Shape;170;g3f8c804c57f_1_11" descr="19_png_14809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46000" y="4050000"/>
            <a:ext cx="3900000" cy="20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g3f8c804c57f_1_11"/>
          <p:cNvSpPr txBox="1"/>
          <p:nvPr/>
        </p:nvSpPr>
        <p:spPr>
          <a:xfrm>
            <a:off x="2046000" y="6050000"/>
            <a:ext cx="3900000" cy="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 b="1" i="0" u="none" strike="noStrike" cap="none">
                <a:solidFill>
                  <a:srgbClr val="6C5CE7"/>
                </a:solidFill>
                <a:latin typeface="Arial"/>
                <a:ea typeface="Arial"/>
                <a:cs typeface="Arial"/>
                <a:sym typeface="Arial"/>
              </a:rPr>
              <a:t>Vista General Cuidador</a:t>
            </a:r>
            <a:endParaRPr/>
          </a:p>
        </p:txBody>
      </p:sp>
      <p:pic>
        <p:nvPicPr>
          <p:cNvPr id="172" name="Google Shape;172;g3f8c804c57f_1_11" descr="25_png_11284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46000" y="4050000"/>
            <a:ext cx="3900000" cy="20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g3f8c804c57f_1_11"/>
          <p:cNvSpPr txBox="1"/>
          <p:nvPr/>
        </p:nvSpPr>
        <p:spPr>
          <a:xfrm>
            <a:off x="6246000" y="6050000"/>
            <a:ext cx="3900000" cy="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 b="1" i="0" u="none" strike="noStrike" cap="none">
                <a:solidFill>
                  <a:srgbClr val="6C5CE7"/>
                </a:solidFill>
                <a:latin typeface="Arial"/>
                <a:ea typeface="Arial"/>
                <a:cs typeface="Arial"/>
                <a:sym typeface="Arial"/>
              </a:rPr>
              <a:t>Vista General Administrador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"/>
          <p:cNvSpPr txBox="1">
            <a:spLocks noGrp="1"/>
          </p:cNvSpPr>
          <p:nvPr>
            <p:ph type="title"/>
          </p:nvPr>
        </p:nvSpPr>
        <p:spPr>
          <a:xfrm>
            <a:off x="641252" y="1068511"/>
            <a:ext cx="10515600" cy="644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Hitos Importantes </a:t>
            </a:r>
            <a:endParaRPr/>
          </a:p>
        </p:txBody>
      </p:sp>
      <p:graphicFrame>
        <p:nvGraphicFramePr>
          <p:cNvPr id="179" name="Google Shape;179;p10"/>
          <p:cNvGraphicFramePr/>
          <p:nvPr/>
        </p:nvGraphicFramePr>
        <p:xfrm>
          <a:off x="2096000" y="2356863"/>
          <a:ext cx="8000000" cy="2166000"/>
        </p:xfrm>
        <a:graphic>
          <a:graphicData uri="http://schemas.openxmlformats.org/drawingml/2006/table">
            <a:tbl>
              <a:tblPr firstRow="1" bandRow="1">
                <a:noFill/>
                <a:tableStyleId>{1D51C63B-3306-4A35-BB3C-0835EDCC88DC}</a:tableStyleId>
              </a:tblPr>
              <a:tblGrid>
                <a:gridCol w="4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800" b="1" u="none" strike="noStrike" cap="none">
                          <a:solidFill>
                            <a:schemeClr val="dk1"/>
                          </a:solidFill>
                        </a:rPr>
                        <a:t>Nombre Fase</a:t>
                      </a:r>
                      <a:endParaRPr sz="18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800" b="1" u="none" strike="noStrike" cap="none">
                          <a:solidFill>
                            <a:schemeClr val="dk1"/>
                          </a:solidFill>
                        </a:rPr>
                        <a:t>Fechas</a:t>
                      </a:r>
                      <a:endParaRPr sz="18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500" b="0" i="0" u="none" strike="noStrike" cap="none">
                          <a:solidFill>
                            <a:srgbClr val="2D34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Inicio del Proyecto</a:t>
                      </a:r>
                      <a:endParaRPr sz="18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s-CL" sz="1500" b="0" i="0" u="none" strike="noStrike" cap="none">
                          <a:solidFill>
                            <a:srgbClr val="2D34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10-08-2026</a:t>
                      </a:r>
                      <a:endParaRPr sz="200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500" b="0" i="0" u="none" strike="noStrike" cap="none">
                          <a:solidFill>
                            <a:srgbClr val="2D34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Requerimientos y Diseño</a:t>
                      </a:r>
                      <a:endParaRPr sz="18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s-CL" sz="1500" b="0" i="0" u="none" strike="noStrike" cap="none">
                          <a:solidFill>
                            <a:srgbClr val="2D34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04-09-2026</a:t>
                      </a:r>
                      <a:endParaRPr sz="200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500" b="0" i="0" u="none" strike="noStrike" cap="none">
                          <a:solidFill>
                            <a:srgbClr val="2D34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Desarrollo e Integración</a:t>
                      </a:r>
                      <a:endParaRPr sz="18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s-CL" sz="1500" b="0" i="0" u="none" strike="noStrike" cap="none">
                          <a:solidFill>
                            <a:srgbClr val="2D34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30-10-2026</a:t>
                      </a:r>
                      <a:endParaRPr sz="200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500" b="0" i="0" u="none" strike="noStrike" cap="none">
                          <a:solidFill>
                            <a:srgbClr val="2D34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Pruebas Finales y Entrega</a:t>
                      </a:r>
                      <a:endParaRPr sz="18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s-CL" sz="1500" b="0" i="0" u="none" strike="noStrike" cap="none">
                          <a:solidFill>
                            <a:srgbClr val="2D34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11-12-2026</a:t>
                      </a:r>
                      <a:endParaRPr sz="200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500" b="1" i="0" u="none" strike="noStrike" cap="none">
                          <a:solidFill>
                            <a:srgbClr val="2D34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Duración Total del Proyecto</a:t>
                      </a:r>
                      <a:endParaRPr sz="18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s-CL" sz="1500" b="1" i="0" u="none" strike="noStrike" cap="none">
                          <a:solidFill>
                            <a:srgbClr val="2D34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123 días</a:t>
                      </a:r>
                      <a:endParaRPr sz="200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>
            <a:spLocks noGrp="1"/>
          </p:cNvSpPr>
          <p:nvPr>
            <p:ph type="title"/>
          </p:nvPr>
        </p:nvSpPr>
        <p:spPr>
          <a:xfrm>
            <a:off x="706567" y="901597"/>
            <a:ext cx="10515600" cy="586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Costos por Fase </a:t>
            </a:r>
            <a:endParaRPr/>
          </a:p>
        </p:txBody>
      </p:sp>
      <p:graphicFrame>
        <p:nvGraphicFramePr>
          <p:cNvPr id="185" name="Google Shape;185;p11"/>
          <p:cNvGraphicFramePr/>
          <p:nvPr/>
        </p:nvGraphicFramePr>
        <p:xfrm>
          <a:off x="825038" y="2314425"/>
          <a:ext cx="10074050" cy="3565890"/>
        </p:xfrm>
        <a:graphic>
          <a:graphicData uri="http://schemas.openxmlformats.org/drawingml/2006/table">
            <a:tbl>
              <a:tblPr>
                <a:noFill/>
                <a:tableStyleId>{08B3905E-D2D9-4C21-BEA5-8B30DF52509C}</a:tableStyleId>
              </a:tblPr>
              <a:tblGrid>
                <a:gridCol w="5037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7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8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strike="noStrike" cap="none"/>
                        <a:t>Fase del Proyecto 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strike="noStrike" cap="none"/>
                        <a:t>Costo Estimado (CLP) 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strike="noStrike" cap="none"/>
                        <a:t>Fase de Planificación 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strike="noStrike" cap="none"/>
                        <a:t>$536.946 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strike="noStrike" cap="none"/>
                        <a:t>Fase de Análisis y Diseño 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strike="noStrike" cap="none"/>
                        <a:t>$966.395 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strike="noStrike" cap="none"/>
                        <a:t>Fase de desarrollo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strike="noStrike" cap="none"/>
                        <a:t>$1.812.495 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strike="noStrike" cap="none"/>
                        <a:t>Fase de Pruebas y QA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strike="noStrike" cap="none"/>
                        <a:t>$569.725 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strike="noStrike" cap="none"/>
                        <a:t>Fase de Implementación y Cierre 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400" u="none" strike="noStrike" cap="none">
                          <a:solidFill>
                            <a:schemeClr val="dk1"/>
                          </a:solidFill>
                        </a:rPr>
                        <a:t>$416.667 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strike="noStrike" cap="none"/>
                        <a:t>Subtotal Horas-Hombre 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strike="noStrike" cap="none"/>
                        <a:t>$4.302.228 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strike="noStrike" cap="none"/>
                        <a:t>Margen de Ganancia (60%) 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strike="noStrike" cap="none"/>
                        <a:t>$2.581.337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2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strike="noStrike" cap="none"/>
                        <a:t>PRECIO FINAL ESTIMADO 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strike="noStrike" cap="none"/>
                        <a:t>$6.883.565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"/>
          <p:cNvSpPr txBox="1">
            <a:spLocks noGrp="1"/>
          </p:cNvSpPr>
          <p:nvPr>
            <p:ph type="title"/>
          </p:nvPr>
        </p:nvSpPr>
        <p:spPr>
          <a:xfrm>
            <a:off x="641252" y="1068511"/>
            <a:ext cx="10515600" cy="644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Tecnologías del Desarrollo</a:t>
            </a:r>
            <a:endParaRPr/>
          </a:p>
        </p:txBody>
      </p:sp>
      <p:sp>
        <p:nvSpPr>
          <p:cNvPr id="191" name="Google Shape;191;p12"/>
          <p:cNvSpPr txBox="1"/>
          <p:nvPr/>
        </p:nvSpPr>
        <p:spPr>
          <a:xfrm>
            <a:off x="641252" y="1828016"/>
            <a:ext cx="10861319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L" sz="1300" b="0" i="0" u="none" strike="noStrike" cap="none">
                <a:solidFill>
                  <a:srgbClr val="636363"/>
                </a:solidFill>
                <a:latin typeface="Arial"/>
                <a:ea typeface="Arial"/>
                <a:cs typeface="Arial"/>
                <a:sym typeface="Arial"/>
              </a:rPr>
              <a:t>Ecosistema tecnológico basado en tecnologías modernas, escalables y de código abierto: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92" name="Google Shape;192;p12"/>
          <p:cNvGraphicFramePr/>
          <p:nvPr/>
        </p:nvGraphicFramePr>
        <p:xfrm>
          <a:off x="641252" y="2250000"/>
          <a:ext cx="10861325" cy="3840000"/>
        </p:xfrm>
        <a:graphic>
          <a:graphicData uri="http://schemas.openxmlformats.org/drawingml/2006/table">
            <a:tbl>
              <a:tblPr firstRow="1" bandRow="1">
                <a:noFill/>
                <a:tableStyleId>{A6F73EDF-346F-4BEB-81FC-432F4C7437A9}</a:tableStyleId>
              </a:tblPr>
              <a:tblGrid>
                <a:gridCol w="3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1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Componente</a:t>
                      </a:r>
                      <a:endParaRPr/>
                    </a:p>
                  </a:txBody>
                  <a:tcPr marL="91450" marR="91450" marT="10000" marB="10000"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Tecnología</a:t>
                      </a:r>
                      <a:endParaRPr/>
                    </a:p>
                  </a:txBody>
                  <a:tcPr marL="91450" marR="91450" marT="10000" marB="10000"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Versión</a:t>
                      </a:r>
                      <a:endParaRPr/>
                    </a:p>
                  </a:txBody>
                  <a:tcPr marL="91450" marR="91450" marT="10000" marB="10000">
                    <a:solidFill>
                      <a:srgbClr val="6C5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b="0" i="0" u="none" strike="noStrike" cap="none">
                          <a:solidFill>
                            <a:srgbClr val="2D34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Plataforma Web</a:t>
                      </a:r>
                      <a:endParaRPr/>
                    </a:p>
                  </a:txBody>
                  <a:tcPr marL="91450" marR="91450" marT="10000" marB="100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b="0" i="0" u="none" strike="noStrike" cap="none">
                          <a:solidFill>
                            <a:srgbClr val="2D34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Astro + TypeScript + Chart.js</a:t>
                      </a:r>
                      <a:endParaRPr/>
                    </a:p>
                  </a:txBody>
                  <a:tcPr marL="91450" marR="91450" marT="10000" marB="100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b="0" i="0" u="none" strike="noStrike" cap="none">
                          <a:solidFill>
                            <a:srgbClr val="2D34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6.4.4</a:t>
                      </a:r>
                      <a:endParaRPr/>
                    </a:p>
                  </a:txBody>
                  <a:tcPr marL="91450" marR="91450" marT="10000" marB="10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b="0" i="0" u="none" strike="noStrike" cap="none">
                          <a:solidFill>
                            <a:srgbClr val="2D34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App Escritorio</a:t>
                      </a:r>
                      <a:endParaRPr/>
                    </a:p>
                  </a:txBody>
                  <a:tcPr marL="91450" marR="91450" marT="10000" marB="10000">
                    <a:solidFill>
                      <a:srgbClr val="F1E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b="0" i="0" u="none" strike="noStrike" cap="none">
                          <a:solidFill>
                            <a:srgbClr val="2D34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Electron + HTML/CSS/JS + Leaflet</a:t>
                      </a:r>
                      <a:endParaRPr/>
                    </a:p>
                  </a:txBody>
                  <a:tcPr marL="91450" marR="91450" marT="10000" marB="10000">
                    <a:solidFill>
                      <a:srgbClr val="F1E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b="0" i="0" u="none" strike="noStrike" cap="none">
                          <a:solidFill>
                            <a:srgbClr val="2D34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33.0.0</a:t>
                      </a:r>
                      <a:endParaRPr/>
                    </a:p>
                  </a:txBody>
                  <a:tcPr marL="91450" marR="91450" marT="10000" marB="10000">
                    <a:solidFill>
                      <a:srgbClr val="F1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b="0" i="0" u="none" strike="noStrike" cap="none">
                          <a:solidFill>
                            <a:srgbClr val="2D34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App Móvil</a:t>
                      </a:r>
                      <a:endParaRPr/>
                    </a:p>
                  </a:txBody>
                  <a:tcPr marL="91450" marR="91450" marT="10000" marB="100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b="0" i="0" u="none" strike="noStrike" cap="none">
                          <a:solidFill>
                            <a:srgbClr val="2D34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Ionic + Angular + Capacitor</a:t>
                      </a:r>
                      <a:endParaRPr/>
                    </a:p>
                  </a:txBody>
                  <a:tcPr marL="91450" marR="91450" marT="10000" marB="100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b="0" i="0" u="none" strike="noStrike" cap="none">
                          <a:solidFill>
                            <a:srgbClr val="2D34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 / 20 / 8</a:t>
                      </a:r>
                      <a:endParaRPr/>
                    </a:p>
                  </a:txBody>
                  <a:tcPr marL="91450" marR="91450" marT="10000" marB="10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b="0" i="0" u="none" strike="noStrike" cap="none">
                          <a:solidFill>
                            <a:srgbClr val="2D34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API CRUD</a:t>
                      </a:r>
                      <a:endParaRPr/>
                    </a:p>
                  </a:txBody>
                  <a:tcPr marL="91450" marR="91450" marT="10000" marB="10000">
                    <a:solidFill>
                      <a:srgbClr val="F1E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b="0" i="0" u="none" strike="noStrike" cap="none">
                          <a:solidFill>
                            <a:srgbClr val="2D34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Java + Spring Boot + Maven</a:t>
                      </a:r>
                      <a:endParaRPr/>
                    </a:p>
                  </a:txBody>
                  <a:tcPr marL="91450" marR="91450" marT="10000" marB="10000">
                    <a:solidFill>
                      <a:srgbClr val="F1E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b="0" i="0" u="none" strike="noStrike" cap="none">
                          <a:solidFill>
                            <a:srgbClr val="2D34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 / 4.0.4</a:t>
                      </a:r>
                      <a:endParaRPr/>
                    </a:p>
                  </a:txBody>
                  <a:tcPr marL="91450" marR="91450" marT="10000" marB="10000">
                    <a:solidFill>
                      <a:srgbClr val="F1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b="0" i="0" u="none" strike="noStrike" cap="none">
                          <a:solidFill>
                            <a:srgbClr val="2D34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API Seguridad</a:t>
                      </a:r>
                      <a:endParaRPr/>
                    </a:p>
                  </a:txBody>
                  <a:tcPr marL="91450" marR="91450" marT="10000" marB="100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b="0" i="0" u="none" strike="noStrike" cap="none">
                          <a:solidFill>
                            <a:srgbClr val="2D34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Spring Boot + JWT + AWS SDK S3</a:t>
                      </a:r>
                      <a:endParaRPr/>
                    </a:p>
                  </a:txBody>
                  <a:tcPr marL="91450" marR="91450" marT="10000" marB="100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b="0" i="0" u="none" strike="noStrike" cap="none">
                          <a:solidFill>
                            <a:srgbClr val="2D34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3.3.0</a:t>
                      </a:r>
                      <a:endParaRPr/>
                    </a:p>
                  </a:txBody>
                  <a:tcPr marL="91450" marR="91450" marT="10000" marB="10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b="0" i="0" u="none" strike="noStrike" cap="none">
                          <a:solidFill>
                            <a:srgbClr val="2D34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Base de Datos</a:t>
                      </a:r>
                      <a:endParaRPr/>
                    </a:p>
                  </a:txBody>
                  <a:tcPr marL="91450" marR="91450" marT="10000" marB="10000">
                    <a:solidFill>
                      <a:srgbClr val="F1E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b="0" i="0" u="none" strike="noStrike" cap="none">
                          <a:solidFill>
                            <a:srgbClr val="2D34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PostgreSQL (Supabase)</a:t>
                      </a:r>
                      <a:endParaRPr/>
                    </a:p>
                  </a:txBody>
                  <a:tcPr marL="91450" marR="91450" marT="10000" marB="10000">
                    <a:solidFill>
                      <a:srgbClr val="F1E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b="0" i="0" u="none" strike="noStrike" cap="none">
                          <a:solidFill>
                            <a:srgbClr val="2D34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L="91450" marR="91450" marT="10000" marB="10000">
                    <a:solidFill>
                      <a:srgbClr val="F1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b="0" i="0" u="none" strike="noStrike" cap="none">
                          <a:solidFill>
                            <a:srgbClr val="2D34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Gráficos</a:t>
                      </a:r>
                      <a:endParaRPr/>
                    </a:p>
                  </a:txBody>
                  <a:tcPr marL="91450" marR="91450" marT="10000" marB="100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b="0" i="0" u="none" strike="noStrike" cap="none">
                          <a:solidFill>
                            <a:srgbClr val="2D34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Chart.js</a:t>
                      </a:r>
                      <a:endParaRPr/>
                    </a:p>
                  </a:txBody>
                  <a:tcPr marL="91450" marR="91450" marT="10000" marB="100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b="0" i="0" u="none" strike="noStrike" cap="none">
                          <a:solidFill>
                            <a:srgbClr val="2D34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4.5.1</a:t>
                      </a:r>
                      <a:endParaRPr/>
                    </a:p>
                  </a:txBody>
                  <a:tcPr marL="91450" marR="91450" marT="10000" marB="100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b="0" i="0" u="none" strike="noStrike" cap="none">
                          <a:solidFill>
                            <a:srgbClr val="2D34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Mapas</a:t>
                      </a:r>
                      <a:endParaRPr/>
                    </a:p>
                  </a:txBody>
                  <a:tcPr marL="91450" marR="91450" marT="10000" marB="10000">
                    <a:solidFill>
                      <a:srgbClr val="F1E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b="0" i="0" u="none" strike="noStrike" cap="none">
                          <a:solidFill>
                            <a:srgbClr val="2D34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Leaflet</a:t>
                      </a:r>
                      <a:endParaRPr/>
                    </a:p>
                  </a:txBody>
                  <a:tcPr marL="91450" marR="91450" marT="10000" marB="10000">
                    <a:solidFill>
                      <a:srgbClr val="F1E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b="0" i="0" u="none" strike="noStrike" cap="none">
                          <a:solidFill>
                            <a:srgbClr val="2D34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1.9.4</a:t>
                      </a:r>
                      <a:endParaRPr/>
                    </a:p>
                  </a:txBody>
                  <a:tcPr marL="91450" marR="91450" marT="10000" marB="10000">
                    <a:solidFill>
                      <a:srgbClr val="F1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b="0" i="0" u="none" strike="noStrike" cap="none">
                          <a:solidFill>
                            <a:srgbClr val="2D34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Hardware</a:t>
                      </a:r>
                      <a:endParaRPr/>
                    </a:p>
                  </a:txBody>
                  <a:tcPr marL="91450" marR="91450" marT="10000" marB="100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b="0" i="0" u="none" strike="noStrike" cap="none">
                          <a:solidFill>
                            <a:srgbClr val="2D34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ESP32 + Bio-sensores + GPS + BLE/WiFi</a:t>
                      </a:r>
                      <a:endParaRPr/>
                    </a:p>
                  </a:txBody>
                  <a:tcPr marL="91450" marR="91450" marT="10000" marB="100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b="0" i="0" u="none" strike="noStrike" cap="none">
                          <a:solidFill>
                            <a:srgbClr val="2D34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L="91450" marR="91450" marT="10000" marB="100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b="0" i="0" u="none" strike="noStrike" cap="none">
                          <a:solidFill>
                            <a:srgbClr val="2D34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Despliegue</a:t>
                      </a:r>
                      <a:endParaRPr/>
                    </a:p>
                  </a:txBody>
                  <a:tcPr marL="91450" marR="91450" marT="10000" marB="10000">
                    <a:solidFill>
                      <a:srgbClr val="F1E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b="0" i="0" u="none" strike="noStrike" cap="none">
                          <a:solidFill>
                            <a:srgbClr val="2D34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Render + Cloudflare Pages + Docker</a:t>
                      </a:r>
                      <a:endParaRPr/>
                    </a:p>
                  </a:txBody>
                  <a:tcPr marL="91450" marR="91450" marT="10000" marB="10000">
                    <a:solidFill>
                      <a:srgbClr val="F1E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b="0" i="0" u="none" strike="noStrike" cap="none">
                          <a:solidFill>
                            <a:srgbClr val="2D34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L="91450" marR="91450" marT="10000" marB="10000">
                    <a:solidFill>
                      <a:srgbClr val="F1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b="0" i="0" u="none" strike="noStrike" cap="none">
                          <a:solidFill>
                            <a:srgbClr val="2D34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Calidad</a:t>
                      </a:r>
                      <a:endParaRPr/>
                    </a:p>
                  </a:txBody>
                  <a:tcPr marL="91450" marR="91450" marT="10000" marB="100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b="0" i="0" u="none" strike="noStrike" cap="none">
                          <a:solidFill>
                            <a:srgbClr val="2D34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GitHub Actions (Gitleaks, Trivy, CodeQL, OWASP)</a:t>
                      </a:r>
                      <a:endParaRPr/>
                    </a:p>
                  </a:txBody>
                  <a:tcPr marL="91450" marR="91450" marT="10000" marB="100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b="0" i="0" u="none" strike="noStrike" cap="none">
                          <a:solidFill>
                            <a:srgbClr val="2D34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L="91450" marR="91450" marT="10000" marB="1000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3"/>
          <p:cNvSpPr txBox="1"/>
          <p:nvPr/>
        </p:nvSpPr>
        <p:spPr>
          <a:xfrm>
            <a:off x="609558" y="699121"/>
            <a:ext cx="10515600" cy="1053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Conclusión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3"/>
          <p:cNvSpPr/>
          <p:nvPr/>
        </p:nvSpPr>
        <p:spPr>
          <a:xfrm>
            <a:off x="839487" y="1923143"/>
            <a:ext cx="10365542" cy="4332514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CL" sz="1500" b="0" i="0" u="none" strike="noStrike" cap="none">
                <a:solidFill>
                  <a:srgbClr val="2D343B"/>
                </a:solidFill>
                <a:latin typeface="Arial"/>
                <a:ea typeface="Arial"/>
                <a:cs typeface="Arial"/>
                <a:sym typeface="Arial"/>
              </a:rPr>
              <a:t>Hydra centraliza la información clínica y administrativa de pacientes con prótesis de mano, facilitando la comunicación entre médicos, cuidadores, familiares y autorizadores.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s-CL" sz="1500" b="0" i="0" u="none" strike="noStrike" cap="none">
                <a:solidFill>
                  <a:srgbClr val="2D343B"/>
                </a:solidFill>
                <a:latin typeface="Arial"/>
                <a:ea typeface="Arial"/>
                <a:cs typeface="Arial"/>
                <a:sym typeface="Arial"/>
              </a:rPr>
              <a:t>El ecosistema multi-plataforma (móvil, web y escritorio) con integración IoT (ESP32) habilita el monitoreo en tiempo real de BPM, batería y geolocalización.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s-CL" sz="1500" b="0" i="0" u="none" strike="noStrike" cap="none">
                <a:solidFill>
                  <a:srgbClr val="2D343B"/>
                </a:solidFill>
                <a:latin typeface="Arial"/>
                <a:ea typeface="Arial"/>
                <a:cs typeface="Arial"/>
                <a:sym typeface="Arial"/>
              </a:rPr>
              <a:t>La seguridad fue un pilar clave: cifrado de datos sensibles, autenticación segura, protocolo TLS y pipeline CI/CD de seguridad (Gitleaks, Trivy, CodeQL y OWASP).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s-CL" sz="1500" b="0" i="0" u="none" strike="noStrike" cap="none">
                <a:solidFill>
                  <a:srgbClr val="2D343B"/>
                </a:solidFill>
                <a:latin typeface="Arial"/>
                <a:ea typeface="Arial"/>
                <a:cs typeface="Arial"/>
                <a:sym typeface="Arial"/>
              </a:rPr>
              <a:t>Se desarrolló bajo metodología ágil Scrum en 5 fases, con un presupuesto estimado de $6.883.565 CLP y entrega proyectada para diciembre de 2026.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s-CL" sz="1500" b="0" i="0" u="none" strike="noStrike" cap="none">
                <a:solidFill>
                  <a:srgbClr val="2D343B"/>
                </a:solidFill>
                <a:latin typeface="Arial"/>
                <a:ea typeface="Arial"/>
                <a:cs typeface="Arial"/>
                <a:sym typeface="Arial"/>
              </a:rPr>
              <a:t>Líneas futuras: inteligencia artificial para detección temprana de anomalías, nuevos sensores, integración hospitalaria y telemedicina.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oji">
  <a:themeElements>
    <a:clrScheme name="Shoji">
      <a:dk1>
        <a:srgbClr val="131313"/>
      </a:dk1>
      <a:lt1>
        <a:sysClr val="window" lastClr="FFFFFF"/>
      </a:lt1>
      <a:dk2>
        <a:srgbClr val="1D3433"/>
      </a:dk2>
      <a:lt2>
        <a:srgbClr val="F3F2ED"/>
      </a:lt2>
      <a:accent1>
        <a:srgbClr val="7C5C3E"/>
      </a:accent1>
      <a:accent2>
        <a:srgbClr val="B8A189"/>
      </a:accent2>
      <a:accent3>
        <a:srgbClr val="A1A696"/>
      </a:accent3>
      <a:accent4>
        <a:srgbClr val="566868"/>
      </a:accent4>
      <a:accent5>
        <a:srgbClr val="786F50"/>
      </a:accent5>
      <a:accent6>
        <a:srgbClr val="A9A375"/>
      </a:accent6>
      <a:hlink>
        <a:srgbClr val="B1785F"/>
      </a:hlink>
      <a:folHlink>
        <a:srgbClr val="6C7F7F"/>
      </a:folHlink>
    </a:clrScheme>
    <a:fontScheme name="Custom 35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hoji" id="{FC7F6458-703E-4B19-BAF9-E88A9B02521B}" vid="{6FBA4037-BA28-4926-BD89-6C54034403AD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Shoji</Template>
  <TotalTime>0</TotalTime>
  <Words>728</Words>
  <Application>Microsoft Office PowerPoint</Application>
  <PresentationFormat>Panorámica</PresentationFormat>
  <Paragraphs>137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Aptos Light</vt:lpstr>
      <vt:lpstr>Arial</vt:lpstr>
      <vt:lpstr>Calibri</vt:lpstr>
      <vt:lpstr>Walbaum Display</vt:lpstr>
      <vt:lpstr>Shoji</vt:lpstr>
      <vt:lpstr>Presentación Portafolio Titulo “Hydra”</vt:lpstr>
      <vt:lpstr>Presentación de PowerPoint</vt:lpstr>
      <vt:lpstr>Descripción del Proyecto</vt:lpstr>
      <vt:lpstr>Presentación de PowerPoint</vt:lpstr>
      <vt:lpstr>Alcances</vt:lpstr>
      <vt:lpstr>Usuarios</vt:lpstr>
      <vt:lpstr>Lista de Requerimientos</vt:lpstr>
      <vt:lpstr>Lista de Requerimientos</vt:lpstr>
      <vt:lpstr>Mockups del paciente</vt:lpstr>
      <vt:lpstr>Mockups del familiar</vt:lpstr>
      <vt:lpstr>Mockups Web / Escritorio</vt:lpstr>
      <vt:lpstr>Hitos Importantes </vt:lpstr>
      <vt:lpstr>Costos por Fase </vt:lpstr>
      <vt:lpstr>Tecnologías del Desarrollo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Sala_</dc:creator>
  <cp:lastModifiedBy>Jeanette Leonelli</cp:lastModifiedBy>
  <cp:revision>3</cp:revision>
  <dcterms:created xsi:type="dcterms:W3CDTF">2015-07-01T15:45:01Z</dcterms:created>
  <dcterms:modified xsi:type="dcterms:W3CDTF">2026-09-10T21:52:10Z</dcterms:modified>
</cp:coreProperties>
</file>